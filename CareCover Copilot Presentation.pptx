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2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240" y="1058811"/>
            <a:ext cx="4531518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23984" y="2667000"/>
            <a:ext cx="4744030" cy="66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6600" b="1" i="0" u="none" dirty="0" err="1">
                <a:solidFill>
                  <a:srgbClr val="0070C0"/>
                </a:solidFill>
                <a:latin typeface="Poppins"/>
              </a:rPr>
              <a:t>Care</a:t>
            </a:r>
            <a:r>
              <a:rPr sz="6600" b="1" i="0" u="none" dirty="0" err="1">
                <a:solidFill>
                  <a:srgbClr val="0F172A"/>
                </a:solidFill>
                <a:latin typeface="Poppins"/>
              </a:rPr>
              <a:t>Cover</a:t>
            </a:r>
            <a:endParaRPr sz="6600" b="1" i="0" u="none" dirty="0">
              <a:solidFill>
                <a:srgbClr val="10B981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5000" y="3369915"/>
            <a:ext cx="83820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95"/>
              </a:lnSpc>
            </a:pPr>
            <a:r>
              <a:rPr sz="1600" b="0" i="0" u="none" dirty="0">
                <a:latin typeface="Goudy Old Style" panose="02020502050305020303" pitchFamily="18" charset="0"/>
              </a:rPr>
              <a:t>Converting complex health insurance policies into actionable coverage clarity, out-of-pocket cost predictability, and real-time care navigation.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57375"/>
            <a:ext cx="5505450" cy="3771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857375"/>
            <a:ext cx="5505450" cy="1181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3152775"/>
            <a:ext cx="5505450" cy="1181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4448175"/>
            <a:ext cx="5505450" cy="1181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24125" y="3031331"/>
            <a:ext cx="13716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DC2626"/>
                </a:solidFill>
                <a:latin typeface="Poppins"/>
              </a:rPr>
              <a:t>42%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755231"/>
            <a:ext cx="41719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991B1B"/>
                </a:solidFill>
                <a:latin typeface="Georgia" panose="02040502050405020303" pitchFamily="18" charset="0"/>
              </a:rPr>
              <a:t>Average Out-of-Pocket Expense Shock During Emergencies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4069556"/>
            <a:ext cx="5067300" cy="366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0" u="none" dirty="0">
                <a:solidFill>
                  <a:srgbClr val="7F1D1D"/>
                </a:solidFill>
                <a:latin typeface="Georgia" panose="02040502050405020303" pitchFamily="18" charset="0"/>
              </a:rPr>
              <a:t>Driven by hidden room rent caps, mandatory co-pay, and proportionate deduction clauses buried across 30+ pages of policy legal jargon.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198120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3276600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457200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8912" y="2081212"/>
            <a:ext cx="1047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77050" y="1981200"/>
            <a:ext cx="493061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Dense Policy Legalities &amp; Hidden Clauses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7050" y="2314575"/>
            <a:ext cx="4695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latin typeface="Inter"/>
              </a:rPr>
              <a:t>Policyholders struggle to decipher complex terms like 1% sum insured room rent caps, 10-30% co-payments, disease-specific waiting periods, and mandatory pre-authorization timelines.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8912" y="3376612"/>
            <a:ext cx="10477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77050" y="3276600"/>
            <a:ext cx="493061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Proportionate Deduction Traps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7050" y="3609975"/>
            <a:ext cx="4695825" cy="394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latin typeface="Inter"/>
              </a:rPr>
              <a:t>Selecting a room category slightly higher than the capped rate scales down surgeon fees, ICU costs, and nursing charges proportionately, creating catastrophic bill shocks.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4672012"/>
            <a:ext cx="1619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77050" y="4572000"/>
            <a:ext cx="493061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Opaque Network Hospitals &amp; Claim Delays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7050" y="4905375"/>
            <a:ext cx="4695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latin typeface="Inter"/>
              </a:rPr>
              <a:t>Lack of real-time visibility into nearby cashless network hospitals with available rooms forces post-discharge reimbursement claims, leading to prolonged disputes and high rejection rates.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1000"/>
            <a:ext cx="117348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1. Problem Statement &amp; Severity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8191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9725"/>
            <a:ext cx="5505450" cy="981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05100"/>
            <a:ext cx="5505450" cy="981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00475"/>
            <a:ext cx="5505450" cy="981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895850"/>
            <a:ext cx="5505450" cy="981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1838325"/>
            <a:ext cx="5505450" cy="381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733550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828925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92430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5019675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1847850"/>
            <a:ext cx="5486400" cy="3790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137" y="1833562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6325" y="1733550"/>
            <a:ext cx="4960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RAG Policy Engine with Citation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2066925"/>
            <a:ext cx="4724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latin typeface="Inter"/>
              </a:rPr>
              <a:t>Extracts sum insured, room rent capping, co-pay rules, and waiting periods with direct page-level citations for zero hallucinations.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187" y="2928937"/>
            <a:ext cx="10477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6325" y="2828925"/>
            <a:ext cx="4960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Room Rent &amp; Deduction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3162300"/>
            <a:ext cx="4724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latin typeface="Inter"/>
              </a:rPr>
              <a:t>Simulates expected room charges against policy limits to calculate true out-of-pocket costs prior to hospital check-in.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9612" y="4024312"/>
            <a:ext cx="1619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6325" y="3924300"/>
            <a:ext cx="4960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Geo Cashless Network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" y="4257675"/>
            <a:ext cx="4724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latin typeface="Inter"/>
              </a:rPr>
              <a:t>Locates nearby cashless network hospitals with real-time distance, insurer compatibility, and specialty filtering.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087" y="5119687"/>
            <a:ext cx="180975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76325" y="5019675"/>
            <a:ext cx="4960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Vernacular Multilingual Voice/Text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" y="5353050"/>
            <a:ext cx="4724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latin typeface="Inter"/>
              </a:rPr>
              <a:t>Provides plain-English and local language explanations to democratize insurance access across diverse patient demographics.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42285"/>
            <a:ext cx="11734800" cy="7155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50" b="1" i="0" u="none" dirty="0">
                <a:solidFill>
                  <a:srgbClr val="0F172A"/>
                </a:solidFill>
                <a:latin typeface="Poppins"/>
              </a:rPr>
              <a:t>2. Proposed Solution: </a:t>
            </a:r>
            <a:r>
              <a:rPr lang="en-IN" sz="2400" b="1" dirty="0" err="1">
                <a:solidFill>
                  <a:srgbClr val="0070C0"/>
                </a:solidFill>
                <a:latin typeface="Poppins"/>
              </a:rPr>
              <a:t>Care</a:t>
            </a:r>
            <a:r>
              <a:rPr lang="en-IN" sz="2400" b="1" dirty="0" err="1">
                <a:solidFill>
                  <a:srgbClr val="0F172A"/>
                </a:solidFill>
                <a:latin typeface="Poppins"/>
              </a:rPr>
              <a:t>Cover</a:t>
            </a:r>
            <a:endParaRPr lang="en-IN" sz="2400" b="1" dirty="0">
              <a:solidFill>
                <a:srgbClr val="10B981"/>
              </a:solidFill>
              <a:latin typeface="Poppins"/>
            </a:endParaRPr>
          </a:p>
          <a:p>
            <a:pPr algn="l"/>
            <a:endParaRPr sz="22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7200" y="8191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52650"/>
            <a:ext cx="5505450" cy="3181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152650"/>
            <a:ext cx="5505450" cy="3181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398043"/>
            <a:ext cx="5067300" cy="1009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8928" y="2371725"/>
            <a:ext cx="5034379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Solution 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2705100"/>
            <a:ext cx="5067300" cy="370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latin typeface="Inter"/>
              </a:rPr>
              <a:t>Unlike traditional insurance brokers (biased, slow, manual) or generic LLM chatbots (prone to legal hallucinations), </a:t>
            </a:r>
            <a:r>
              <a:rPr sz="1012" b="0" i="0" u="none" dirty="0" err="1">
                <a:latin typeface="Inter"/>
              </a:rPr>
              <a:t>CareCover</a:t>
            </a:r>
            <a:r>
              <a:rPr sz="1012" b="0" i="0" u="none" dirty="0">
                <a:latin typeface="Inter"/>
              </a:rPr>
              <a:t> Copilot provides verifiable evidence-backed intelligence.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8703" y="2371725"/>
            <a:ext cx="4984372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oppins SemiBold"/>
              </a:rPr>
              <a:t>Relevant Pros &amp; Cons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2419350"/>
            <a:ext cx="177403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" y="3521868"/>
            <a:ext cx="4819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 SemiBold"/>
              </a:rPr>
              <a:t>Feature Generic LLM </a:t>
            </a:r>
            <a:r>
              <a:rPr sz="975" b="0" i="0" u="none">
                <a:solidFill>
                  <a:srgbClr val="059669"/>
                </a:solidFill>
                <a:latin typeface="Inter SemiBold"/>
              </a:rPr>
              <a:t>CareCover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3712368"/>
            <a:ext cx="48196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" y="3779043"/>
            <a:ext cx="4819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Inter"/>
              </a:rPr>
              <a:t>Page Citation </a:t>
            </a:r>
            <a:r>
              <a:rPr sz="900" b="0" i="0" u="none">
                <a:solidFill>
                  <a:srgbClr val="DC2626"/>
                </a:solidFill>
                <a:latin typeface="Inter"/>
              </a:rPr>
              <a:t>No</a:t>
            </a:r>
            <a:r>
              <a:rPr sz="9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>
                <a:solidFill>
                  <a:srgbClr val="059669"/>
                </a:solidFill>
                <a:latin typeface="Inter SemiBold"/>
              </a:rPr>
              <a:t>Yes (Verified)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960018"/>
            <a:ext cx="4819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Inter"/>
              </a:rPr>
              <a:t>Deduction Math </a:t>
            </a:r>
            <a:r>
              <a:rPr sz="900" b="0" i="0" u="none">
                <a:solidFill>
                  <a:srgbClr val="DC2626"/>
                </a:solidFill>
                <a:latin typeface="Inter"/>
              </a:rPr>
              <a:t>Inaccurate</a:t>
            </a:r>
            <a:r>
              <a:rPr sz="9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>
                <a:solidFill>
                  <a:srgbClr val="059669"/>
                </a:solidFill>
                <a:latin typeface="Inter SemiBold"/>
              </a:rPr>
              <a:t>Deterministic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140993"/>
            <a:ext cx="4819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Inter"/>
              </a:rPr>
              <a:t>Cashless Geo Map </a:t>
            </a:r>
            <a:r>
              <a:rPr sz="900" b="0" i="0" u="none">
                <a:solidFill>
                  <a:srgbClr val="DC2626"/>
                </a:solidFill>
                <a:latin typeface="Inter"/>
              </a:rPr>
              <a:t>None</a:t>
            </a:r>
            <a:r>
              <a:rPr sz="9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900" b="0" i="0" u="none">
                <a:solidFill>
                  <a:srgbClr val="059669"/>
                </a:solidFill>
                <a:latin typeface="Inter SemiBold"/>
              </a:rPr>
              <a:t>Real-time API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2419350"/>
            <a:ext cx="225028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8425" y="2705100"/>
            <a:ext cx="5067300" cy="2000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59669"/>
                </a:solidFill>
                <a:latin typeface="Inter SemiBold"/>
              </a:rPr>
              <a:t>Key Advantages (Pros):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867150"/>
            <a:ext cx="5067300" cy="2000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D97706"/>
                </a:solidFill>
                <a:latin typeface="Inter SemiBold"/>
              </a:rPr>
              <a:t>Limitations &amp; Mitigations (Cons):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2743200"/>
            <a:ext cx="133350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57975" y="2962275"/>
            <a:ext cx="485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Zero financial bill shock prior to hospital admission.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7975" y="3257550"/>
            <a:ext cx="485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Exact page-numbered source references build legal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7975" y="3552825"/>
            <a:ext cx="485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Empowers non-English speaking patients with localized audio.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905250"/>
            <a:ext cx="133350" cy="133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57975" y="4124325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Scanned Physical Policy PDFs: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Resolved via Tesseract OCR engine integration.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7975" y="4619625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Non-binding Disclaimer: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Clear legal notice that final approvals rest with insurer TPAs.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1000"/>
            <a:ext cx="117348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3. Uniqueness, Comparison &amp; Pros/Cons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8191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981325"/>
            <a:ext cx="13335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3276600"/>
            <a:ext cx="13335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3571875"/>
            <a:ext cx="13335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4143375"/>
            <a:ext cx="13335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4638675"/>
            <a:ext cx="1333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5506"/>
            <a:ext cx="2676525" cy="1614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2145506"/>
            <a:ext cx="2676525" cy="1614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12393"/>
            <a:ext cx="2676525" cy="1428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125" y="3912393"/>
            <a:ext cx="2676525" cy="1428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2147887"/>
            <a:ext cx="5505450" cy="2381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50" y="4662487"/>
            <a:ext cx="5505450" cy="676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7272" y="2307431"/>
            <a:ext cx="228325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oppins"/>
              </a:rPr>
              <a:t>Ingestion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2855118"/>
            <a:ext cx="23526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latin typeface="Inter"/>
              </a:rPr>
              <a:t>Parses structured text and tables from multi-page insurance policy documents and rider schedules.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5247" y="2307431"/>
            <a:ext cx="2263251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oppins"/>
              </a:rPr>
              <a:t>Vector Indexing &amp;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8050" y="2855118"/>
            <a:ext cx="2352675" cy="562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latin typeface="Inter"/>
              </a:rPr>
              <a:t>Generates dense semantic embeddings for context retrieval with metadata tracking (page numbers &amp; clauses).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272" y="4074318"/>
            <a:ext cx="2283254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oppins"/>
              </a:rPr>
              <a:t>Deduction &amp; 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4622006"/>
            <a:ext cx="23526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latin typeface="Inter"/>
              </a:rPr>
              <a:t>Deterministic calculator computes room rent scaling, co-pay fractions, and out-of-pocket estimates.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3347" y="4074318"/>
            <a:ext cx="2223246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oppins"/>
              </a:rPr>
              <a:t>Application &amp; Geo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8050" y="4622006"/>
            <a:ext cx="23526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latin typeface="Inter"/>
              </a:rPr>
              <a:t>Delivers an intuitive dashboard with interactive hospital mapping and vernacular audio query response.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2157412"/>
            <a:ext cx="5486400" cy="2362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96650" y="4867275"/>
            <a:ext cx="257175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2345531"/>
            <a:ext cx="101947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2621756"/>
            <a:ext cx="476250" cy="19526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1575" y="2621756"/>
            <a:ext cx="895350" cy="19526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48050" y="2345531"/>
            <a:ext cx="120997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8050" y="2621756"/>
            <a:ext cx="695325" cy="19526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19575" y="2621756"/>
            <a:ext cx="695325" cy="19526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125" y="4112418"/>
            <a:ext cx="101947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125" y="4388643"/>
            <a:ext cx="800100" cy="1952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95425" y="4388643"/>
            <a:ext cx="771525" cy="19526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48050" y="4112418"/>
            <a:ext cx="159097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48050" y="4388643"/>
            <a:ext cx="533400" cy="19526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57650" y="4388643"/>
            <a:ext cx="742950" cy="1952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10325" y="4805362"/>
            <a:ext cx="3914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47857"/>
                </a:solidFill>
                <a:latin typeface="Inter"/>
              </a:rPr>
              <a:t>Repository:</a:t>
            </a:r>
            <a:r>
              <a:rPr sz="975" b="0" i="0" u="none">
                <a:solidFill>
                  <a:srgbClr val="065F46"/>
                </a:solidFill>
                <a:latin typeface="Inter"/>
              </a:rPr>
              <a:t> github.com/bshubhayu07/carecover-copilot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0325" y="5010150"/>
            <a:ext cx="4457700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 dirty="0">
                <a:solidFill>
                  <a:srgbClr val="047857"/>
                </a:solidFill>
                <a:latin typeface="Inter"/>
              </a:rPr>
              <a:t>Demo Video:</a:t>
            </a:r>
            <a:r>
              <a:rPr sz="975" b="0" i="0" u="none" dirty="0">
                <a:solidFill>
                  <a:srgbClr val="065F46"/>
                </a:solidFill>
                <a:latin typeface="Inter"/>
              </a:rPr>
              <a:t> &lt; 5 Minute Interactive Product Walkthrough Included</a:t>
            </a:r>
            <a:r>
              <a:rPr lang="en-IN" sz="975" b="0" i="0" u="none" dirty="0">
                <a:solidFill>
                  <a:srgbClr val="065F46"/>
                </a:solidFill>
                <a:latin typeface="Inter"/>
              </a:rPr>
              <a:t> in </a:t>
            </a:r>
            <a:r>
              <a:rPr lang="en-IN" sz="975" b="0" i="0" u="none" dirty="0" err="1">
                <a:solidFill>
                  <a:srgbClr val="065F46"/>
                </a:solidFill>
                <a:latin typeface="Inter"/>
              </a:rPr>
              <a:t>github</a:t>
            </a:r>
            <a:r>
              <a:rPr lang="en-IN" sz="975" b="0" i="0" u="none" dirty="0">
                <a:solidFill>
                  <a:srgbClr val="065F46"/>
                </a:solidFill>
                <a:latin typeface="Inter"/>
              </a:rPr>
              <a:t> repository</a:t>
            </a:r>
            <a:endParaRPr sz="975" b="0" i="0" u="none" dirty="0">
              <a:solidFill>
                <a:srgbClr val="065F46"/>
              </a:solidFill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381000"/>
            <a:ext cx="117348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4. Additional Info, References &amp; Architecture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819150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480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Georgia</vt:lpstr>
      <vt:lpstr>Goudy Old Style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Sohan Saha</cp:lastModifiedBy>
  <cp:revision>2</cp:revision>
  <dcterms:created xsi:type="dcterms:W3CDTF">2013-01-27T09:14:16Z</dcterms:created>
  <dcterms:modified xsi:type="dcterms:W3CDTF">2026-08-26T17:53:32Z</dcterms:modified>
  <cp:category/>
</cp:coreProperties>
</file>